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6846" autoAdjust="0"/>
  </p:normalViewPr>
  <p:slideViewPr>
    <p:cSldViewPr snapToGrid="0">
      <p:cViewPr varScale="1">
        <p:scale>
          <a:sx n="58" d="100"/>
          <a:sy n="58" d="100"/>
        </p:scale>
        <p:origin x="9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D82AC-074A-48F9-BA62-E46F964B97C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A15CC7-5CF7-4421-88C6-AE5485AD2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8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eneral-purpose_programming_language" TargetMode="External"/><Relationship Id="rId13" Type="http://schemas.openxmlformats.org/officeDocument/2006/relationships/hyperlink" Target="https://en.wikipedia.org/wiki/Julia_(programming_language)#cite_note-Escher.jl-18" TargetMode="External"/><Relationship Id="rId3" Type="http://schemas.openxmlformats.org/officeDocument/2006/relationships/hyperlink" Target="https://en.wikipedia.org/wiki/High-level_programming_language" TargetMode="External"/><Relationship Id="rId7" Type="http://schemas.openxmlformats.org/officeDocument/2006/relationships/hyperlink" Target="https://en.wikipedia.org/wiki/Compiler#Compiler_construction" TargetMode="External"/><Relationship Id="rId12" Type="http://schemas.openxmlformats.org/officeDocument/2006/relationships/hyperlink" Target="https://en.wikipedia.org/wiki/Julia_(programming_language)#cite_note-17" TargetMode="External"/><Relationship Id="rId2" Type="http://schemas.openxmlformats.org/officeDocument/2006/relationships/slide" Target="../slides/slide2.xml"/><Relationship Id="rId16" Type="http://schemas.openxmlformats.org/officeDocument/2006/relationships/hyperlink" Target="https://en.wikipedia.org/wiki/Julia_(programming_language)#cite_note-spec-20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Computational_science" TargetMode="External"/><Relationship Id="rId11" Type="http://schemas.openxmlformats.org/officeDocument/2006/relationships/hyperlink" Target="https://en.wikipedia.org/wiki/Julia_(programming_language)#cite_note-16" TargetMode="External"/><Relationship Id="rId5" Type="http://schemas.openxmlformats.org/officeDocument/2006/relationships/hyperlink" Target="https://en.wikipedia.org/wiki/Numerical_analysis" TargetMode="External"/><Relationship Id="rId15" Type="http://schemas.openxmlformats.org/officeDocument/2006/relationships/hyperlink" Target="https://en.wikipedia.org/wiki/Specification_language" TargetMode="External"/><Relationship Id="rId10" Type="http://schemas.openxmlformats.org/officeDocument/2006/relationships/hyperlink" Target="https://en.wikipedia.org/wiki/Julia_(programming_language)#cite_note-15" TargetMode="External"/><Relationship Id="rId4" Type="http://schemas.openxmlformats.org/officeDocument/2006/relationships/hyperlink" Target="https://en.wikipedia.org/wiki/Dynamic_programming_language" TargetMode="External"/><Relationship Id="rId9" Type="http://schemas.openxmlformats.org/officeDocument/2006/relationships/hyperlink" Target="https://en.wikipedia.org/wiki/Julia_(programming_language)#cite_note-14" TargetMode="External"/><Relationship Id="rId14" Type="http://schemas.openxmlformats.org/officeDocument/2006/relationships/hyperlink" Target="https://en.wikipedia.org/wiki/Julia_(programming_language)#cite_note-node-js-19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Julia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igh-level programming language"/>
              </a:rPr>
              <a:t>high-level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Dynamic programming language"/>
              </a:rPr>
              <a:t>dynamic programming language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designed to address the needs of high-performance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numerical analysis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Computational science"/>
              </a:rPr>
              <a:t>computational science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without the typical need of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Compiler"/>
              </a:rPr>
              <a:t>separate compilation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be fast, while also being effective for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General-purpose programming language"/>
              </a:rPr>
              <a:t>general-purpose programming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/>
              </a:rPr>
              <a:t>[14]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/>
              </a:rPr>
              <a:t>[15]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/>
              </a:rPr>
              <a:t>[16]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/>
              </a:rPr>
              <a:t>[17]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web use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/>
              </a:rPr>
              <a:t>[18]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/>
              </a:rPr>
              <a:t>[19]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 as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 tooltip="Specification language"/>
              </a:rPr>
              <a:t>specification language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/>
              </a:rPr>
              <a:t>[20]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EA992-FE0F-4A99-BC0E-A43C7452D4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none" dirty="0" err="1"/>
              <a:t>Mencionar</a:t>
            </a:r>
            <a:r>
              <a:rPr lang="en-US" b="0" u="none" dirty="0"/>
              <a:t> que JS</a:t>
            </a:r>
            <a:r>
              <a:rPr lang="en-US" b="0" u="none" baseline="0" dirty="0"/>
              <a:t> </a:t>
            </a:r>
            <a:r>
              <a:rPr lang="en-US" b="0" u="none" baseline="0" dirty="0" err="1"/>
              <a:t>también</a:t>
            </a:r>
            <a:r>
              <a:rPr lang="en-US" b="0" u="none" baseline="0" dirty="0"/>
              <a:t> </a:t>
            </a:r>
            <a:r>
              <a:rPr lang="en-US" b="0" u="none" baseline="0" dirty="0" err="1"/>
              <a:t>puede</a:t>
            </a:r>
            <a:r>
              <a:rPr lang="en-US" b="0" u="none" baseline="0" dirty="0"/>
              <a:t> </a:t>
            </a:r>
            <a:r>
              <a:rPr lang="en-US" b="0" u="none" baseline="0" dirty="0" err="1"/>
              <a:t>ejecutarse</a:t>
            </a:r>
            <a:r>
              <a:rPr lang="en-US" b="0" u="none" baseline="0" dirty="0"/>
              <a:t> sin </a:t>
            </a:r>
            <a:r>
              <a:rPr lang="en-US" b="0" u="none" baseline="0" dirty="0" err="1"/>
              <a:t>navegador</a:t>
            </a:r>
            <a:r>
              <a:rPr lang="en-US" b="0" u="none" baseline="0" dirty="0"/>
              <a:t>, </a:t>
            </a:r>
            <a:r>
              <a:rPr lang="en-US" b="0" u="none" baseline="0" dirty="0" err="1"/>
              <a:t>pero</a:t>
            </a:r>
            <a:r>
              <a:rPr lang="en-US" b="0" u="none" baseline="0" dirty="0"/>
              <a:t> no </a:t>
            </a:r>
            <a:r>
              <a:rPr lang="en-US" b="0" u="none" baseline="0" dirty="0" err="1"/>
              <a:t>nos</a:t>
            </a:r>
            <a:r>
              <a:rPr lang="en-US" b="0" u="none" baseline="0" dirty="0"/>
              <a:t> </a:t>
            </a:r>
            <a:r>
              <a:rPr lang="en-US" b="0" u="none" baseline="0" dirty="0" err="1"/>
              <a:t>interesa</a:t>
            </a:r>
            <a:r>
              <a:rPr lang="en-US" b="0" u="none" baseline="0" dirty="0"/>
              <a:t> (hay </a:t>
            </a:r>
            <a:r>
              <a:rPr lang="en-US" b="0" u="none" baseline="0" dirty="0" err="1"/>
              <a:t>entornos</a:t>
            </a:r>
            <a:r>
              <a:rPr lang="en-US" b="0" u="none" baseline="0" dirty="0"/>
              <a:t> de </a:t>
            </a:r>
            <a:r>
              <a:rPr lang="en-US" b="0" u="none" baseline="0" dirty="0" err="1"/>
              <a:t>línea</a:t>
            </a:r>
            <a:r>
              <a:rPr lang="en-US" b="0" u="none" baseline="0" dirty="0"/>
              <a:t> de commandos </a:t>
            </a:r>
            <a:r>
              <a:rPr lang="en-US" b="0" u="none" baseline="0" dirty="0" err="1"/>
              <a:t>como</a:t>
            </a:r>
            <a:r>
              <a:rPr lang="en-US" b="0" u="none" baseline="0" dirty="0"/>
              <a:t> Node.js)</a:t>
            </a:r>
            <a:endParaRPr lang="en-US" b="0" u="non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EA992-FE0F-4A99-BC0E-A43C7452D4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82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</a:t>
            </a:r>
            <a:r>
              <a:rPr lang="en-US" dirty="0" err="1"/>
              <a:t>compiladores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linkers, </a:t>
            </a:r>
            <a:r>
              <a:rPr lang="en-US" dirty="0" err="1"/>
              <a:t>ni</a:t>
            </a:r>
            <a:r>
              <a:rPr lang="en-US" dirty="0"/>
              <a:t> nada.</a:t>
            </a:r>
            <a:r>
              <a:rPr lang="en-US" baseline="0" dirty="0"/>
              <a:t> </a:t>
            </a:r>
          </a:p>
          <a:p>
            <a:endParaRPr lang="en-US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i="1" dirty="0"/>
              <a:t>Todo</a:t>
            </a:r>
            <a:r>
              <a:rPr lang="es-ES" dirty="0"/>
              <a:t> se puede encontrar en Google</a:t>
            </a:r>
            <a:r>
              <a:rPr lang="en-US" dirty="0"/>
              <a:t>:</a:t>
            </a:r>
            <a:r>
              <a:rPr lang="en-US" baseline="0" dirty="0"/>
              <a:t> </a:t>
            </a:r>
            <a:r>
              <a:rPr lang="en-US" baseline="0" dirty="0" err="1"/>
              <a:t>fácil</a:t>
            </a:r>
            <a:r>
              <a:rPr lang="en-US" baseline="0" dirty="0"/>
              <a:t> “responder” a las </a:t>
            </a:r>
            <a:r>
              <a:rPr lang="en-US" baseline="0" dirty="0" err="1"/>
              <a:t>preguntas</a:t>
            </a:r>
            <a:r>
              <a:rPr lang="en-US" baseline="0" dirty="0"/>
              <a:t> de </a:t>
            </a:r>
            <a:r>
              <a:rPr lang="en-US" baseline="0" dirty="0" err="1"/>
              <a:t>los</a:t>
            </a:r>
            <a:r>
              <a:rPr lang="en-US" baseline="0" dirty="0"/>
              <a:t> </a:t>
            </a:r>
            <a:r>
              <a:rPr lang="en-US" baseline="0" dirty="0" err="1"/>
              <a:t>estudiantes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EA992-FE0F-4A99-BC0E-A43C7452D4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9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bajo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que </a:t>
            </a:r>
            <a:r>
              <a:rPr lang="en-US" dirty="0" err="1"/>
              <a:t>en</a:t>
            </a:r>
            <a:r>
              <a:rPr lang="en-US" dirty="0"/>
              <a:t> Maple</a:t>
            </a:r>
            <a:r>
              <a:rPr lang="en-US" baseline="0" dirty="0"/>
              <a:t> </a:t>
            </a:r>
            <a:r>
              <a:rPr lang="en-US" baseline="0" dirty="0" err="1"/>
              <a:t>etc</a:t>
            </a:r>
            <a:r>
              <a:rPr lang="en-US" baseline="0" dirty="0"/>
              <a:t> que </a:t>
            </a:r>
            <a:r>
              <a:rPr lang="en-US" baseline="0" dirty="0" err="1"/>
              <a:t>tienen</a:t>
            </a:r>
            <a:r>
              <a:rPr lang="en-US" baseline="0" dirty="0"/>
              <a:t> un commando “plot”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EA992-FE0F-4A99-BC0E-A43C7452D4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66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9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63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6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5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5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0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4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7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19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28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203FE-9043-40D8-97A1-2335009E8FD3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21E20-D1F4-4672-B621-A9D73131D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1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mathnotepad.com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Computational Geometry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Lab assignments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2667000" y="5349875"/>
            <a:ext cx="6858000" cy="11080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Rodrigo Silveira</a:t>
            </a:r>
          </a:p>
          <a:p>
            <a:br>
              <a:rPr lang="en-US" dirty="0"/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rodrigo.Silveira@upc.edu</a:t>
            </a:r>
          </a:p>
        </p:txBody>
      </p:sp>
    </p:spTree>
    <p:extLst>
      <p:ext uri="{BB962C8B-B14F-4D97-AF65-F5344CB8AC3E}">
        <p14:creationId xmlns:p14="http://schemas.microsoft.com/office/powerpoint/2010/main" val="362864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32" descr="https://www.python.org/static/community_logos/python-logo-master-v3-T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106" y="3320400"/>
            <a:ext cx="3473012" cy="117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software to use?</a:t>
            </a:r>
          </a:p>
        </p:txBody>
      </p:sp>
      <p:pic>
        <p:nvPicPr>
          <p:cNvPr id="5" name="Picture 2" descr="Image result for maple softwa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769" y="2022526"/>
            <a:ext cx="3086462" cy="983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geogebr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365" y="4641438"/>
            <a:ext cx="3151331" cy="154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javascript log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158" y="5114409"/>
            <a:ext cx="1548116" cy="1548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matlab  log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668" y="2569410"/>
            <a:ext cx="3013862" cy="113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mathematica  log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" t="2896" r="3332" b="1062"/>
          <a:stretch/>
        </p:blipFill>
        <p:spPr bwMode="auto">
          <a:xfrm>
            <a:off x="9447218" y="239623"/>
            <a:ext cx="2512291" cy="191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octave  log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842" y="3236079"/>
            <a:ext cx="2964256" cy="169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le:Julia prog language.sv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240" y="2972845"/>
            <a:ext cx="2386249" cy="161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c++ logo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755" y="5009079"/>
            <a:ext cx="1564489" cy="175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java logo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60" y="2475977"/>
            <a:ext cx="1963739" cy="196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Image result for sage math  logo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291" y="987780"/>
            <a:ext cx="1526395" cy="1526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https://www.python.org/static/community_logos/python-logo-master-v3-TM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9219" y="17771731"/>
            <a:ext cx="170728" cy="5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Image result for ruby logo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473" y="4470196"/>
            <a:ext cx="1202287" cy="120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Image result for desmos logo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538" y="5975004"/>
            <a:ext cx="2481126" cy="64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upload.wikimedia.org/wikipedia/commons/thumb/d/d5/Rust_programming_language_black_logo.svg/144px-Rust_programming_language_black_logo.svg.png">
            <a:extLst>
              <a:ext uri="{FF2B5EF4-FFF2-40B4-BE49-F238E27FC236}">
                <a16:creationId xmlns:a16="http://schemas.microsoft.com/office/drawing/2014/main" id="{ED15EDB6-D1D8-4D95-AEC0-408CCA06C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15" y="4076729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738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 err="1"/>
              <a:t>JavaScript</a:t>
            </a:r>
            <a:endParaRPr lang="en-US" sz="4800" dirty="0"/>
          </a:p>
        </p:txBody>
      </p:sp>
      <p:sp>
        <p:nvSpPr>
          <p:cNvPr id="2" name="Marcador de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2" descr="Image result for javascript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6" y="4346576"/>
            <a:ext cx="2511425" cy="25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5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(JS)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52650" y="1825625"/>
            <a:ext cx="7572375" cy="4351338"/>
          </a:xfrm>
        </p:spPr>
        <p:txBody>
          <a:bodyPr/>
          <a:lstStyle/>
          <a:p>
            <a:r>
              <a:rPr lang="es-ES" dirty="0"/>
              <a:t>High-</a:t>
            </a:r>
            <a:r>
              <a:rPr lang="es-ES" dirty="0" err="1"/>
              <a:t>level</a:t>
            </a:r>
            <a:r>
              <a:rPr lang="es-ES" dirty="0"/>
              <a:t> </a:t>
            </a:r>
            <a:r>
              <a:rPr lang="es-ES" dirty="0" err="1"/>
              <a:t>programming</a:t>
            </a:r>
            <a:r>
              <a:rPr lang="es-ES" dirty="0"/>
              <a:t> </a:t>
            </a:r>
            <a:r>
              <a:rPr lang="es-ES" dirty="0" err="1"/>
              <a:t>language</a:t>
            </a:r>
            <a:endParaRPr lang="es-ES" dirty="0"/>
          </a:p>
          <a:p>
            <a:r>
              <a:rPr lang="es-ES" dirty="0" err="1"/>
              <a:t>Interpreted</a:t>
            </a:r>
            <a:endParaRPr lang="es-ES" dirty="0"/>
          </a:p>
          <a:p>
            <a:r>
              <a:rPr lang="es-ES" dirty="0" err="1"/>
              <a:t>Runs</a:t>
            </a:r>
            <a:r>
              <a:rPr lang="es-ES" dirty="0"/>
              <a:t> in </a:t>
            </a:r>
            <a:r>
              <a:rPr lang="es-ES" dirty="0" err="1"/>
              <a:t>any</a:t>
            </a:r>
            <a:r>
              <a:rPr lang="es-ES" dirty="0"/>
              <a:t> browser*</a:t>
            </a:r>
          </a:p>
        </p:txBody>
      </p:sp>
      <p:pic>
        <p:nvPicPr>
          <p:cNvPr id="1026" name="Picture 2" descr="Image result for javascript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6" y="4346576"/>
            <a:ext cx="2511425" cy="25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age result for browser logo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320" y="3477728"/>
            <a:ext cx="3884834" cy="77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3107872" y="5259387"/>
            <a:ext cx="355373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Hello World!</a:t>
            </a:r>
          </a:p>
        </p:txBody>
      </p:sp>
    </p:spTree>
    <p:extLst>
      <p:ext uri="{BB962C8B-B14F-4D97-AF65-F5344CB8AC3E}">
        <p14:creationId xmlns:p14="http://schemas.microsoft.com/office/powerpoint/2010/main" val="74852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advantages of JS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High-level</a:t>
            </a:r>
          </a:p>
          <a:p>
            <a:pPr lvl="1"/>
            <a:r>
              <a:rPr lang="en-US" dirty="0"/>
              <a:t>Multi-paradigm (object-oriented, functional, …)</a:t>
            </a:r>
          </a:p>
          <a:p>
            <a:r>
              <a:rPr lang="en-US" dirty="0"/>
              <a:t>Easy to learn (we hope!)</a:t>
            </a:r>
          </a:p>
          <a:p>
            <a:pPr lvl="1"/>
            <a:r>
              <a:rPr lang="en-US" dirty="0"/>
              <a:t>Syntax similar to C++/Java</a:t>
            </a:r>
          </a:p>
          <a:p>
            <a:pPr lvl="1"/>
            <a:r>
              <a:rPr lang="en-US" dirty="0"/>
              <a:t>Requires some HTML knowledge</a:t>
            </a:r>
          </a:p>
          <a:p>
            <a:r>
              <a:rPr lang="en-US" dirty="0"/>
              <a:t>Huge support community available</a:t>
            </a:r>
          </a:p>
          <a:p>
            <a:pPr lvl="1"/>
            <a:r>
              <a:rPr lang="en-US" i="1" dirty="0"/>
              <a:t>Almost everything </a:t>
            </a:r>
            <a:r>
              <a:rPr lang="en-US" dirty="0"/>
              <a:t>can be found in Stack Exchange</a:t>
            </a:r>
          </a:p>
          <a:p>
            <a:pPr lvl="1"/>
            <a:r>
              <a:rPr lang="en-US" i="1" dirty="0"/>
              <a:t>Everything</a:t>
            </a:r>
            <a:r>
              <a:rPr lang="en-US" dirty="0"/>
              <a:t> can be found in Google</a:t>
            </a:r>
          </a:p>
          <a:p>
            <a:r>
              <a:rPr lang="en-US" dirty="0"/>
              <a:t>No extra software required</a:t>
            </a:r>
          </a:p>
          <a:p>
            <a:pPr lvl="1"/>
            <a:r>
              <a:rPr lang="en-US" dirty="0"/>
              <a:t>Only browser (Chrome?) + text editor</a:t>
            </a:r>
          </a:p>
          <a:p>
            <a:pPr lvl="1"/>
            <a:r>
              <a:rPr lang="en-US" dirty="0"/>
              <a:t>Debugging included</a:t>
            </a:r>
          </a:p>
          <a:p>
            <a:pPr lvl="1"/>
            <a:r>
              <a:rPr lang="en-US" dirty="0"/>
              <a:t>No linking and compilation issues</a:t>
            </a:r>
          </a:p>
          <a:p>
            <a:endParaRPr lang="en-US" dirty="0"/>
          </a:p>
        </p:txBody>
      </p:sp>
      <p:pic>
        <p:nvPicPr>
          <p:cNvPr id="4" name="Picture 2" descr="Image result for javascript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6" y="4346576"/>
            <a:ext cx="2511425" cy="25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7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stuff in JS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provides </a:t>
            </a:r>
            <a:r>
              <a:rPr lang="en-US" i="1" dirty="0"/>
              <a:t>canvas</a:t>
            </a:r>
            <a:r>
              <a:rPr lang="en-US" dirty="0"/>
              <a:t> object</a:t>
            </a:r>
          </a:p>
          <a:p>
            <a:r>
              <a:rPr lang="en-US" dirty="0"/>
              <a:t>JavaScript has basic methods to draw in 2D: points, polygonal lines, ellipses… </a:t>
            </a:r>
          </a:p>
        </p:txBody>
      </p:sp>
      <p:pic>
        <p:nvPicPr>
          <p:cNvPr id="4" name="Picture 2" descr="Image result for javascript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6" y="4346576"/>
            <a:ext cx="2511425" cy="25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2313130" y="3193495"/>
            <a:ext cx="568296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id="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myCanvas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 width="200" height="100"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style="border:1px solid #c3c3c3;"&gt;&lt;/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canvas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canvas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myCanvas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sz="16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canvas.getContext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"2d"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ctx.fillStyle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"#FF0000"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ctx.fillRect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75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html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1298" t="1558" r="28897" b="52507"/>
          <a:stretch/>
        </p:blipFill>
        <p:spPr>
          <a:xfrm>
            <a:off x="5480051" y="5638801"/>
            <a:ext cx="2047875" cy="107632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313131" y="5431632"/>
            <a:ext cx="3006441" cy="264318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7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stuff in JS… in 3D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third-party</a:t>
            </a:r>
            <a:r>
              <a:rPr lang="es-ES" dirty="0"/>
              <a:t> </a:t>
            </a:r>
            <a:r>
              <a:rPr lang="es-ES" dirty="0" err="1"/>
              <a:t>library</a:t>
            </a:r>
            <a:r>
              <a:rPr lang="es-ES" dirty="0"/>
              <a:t> </a:t>
            </a:r>
            <a:r>
              <a:rPr lang="es-ES" b="1" dirty="0"/>
              <a:t>three.js</a:t>
            </a:r>
          </a:p>
          <a:p>
            <a:r>
              <a:rPr lang="es-ES" dirty="0" err="1"/>
              <a:t>Easy</a:t>
            </a:r>
            <a:r>
              <a:rPr lang="es-ES" dirty="0"/>
              <a:t> to </a:t>
            </a:r>
            <a:r>
              <a:rPr lang="es-ES" dirty="0" err="1"/>
              <a:t>include</a:t>
            </a:r>
            <a:r>
              <a:rPr lang="es-ES" dirty="0"/>
              <a:t> (</a:t>
            </a:r>
            <a:r>
              <a:rPr lang="es-ES" dirty="0" err="1"/>
              <a:t>one</a:t>
            </a:r>
            <a:r>
              <a:rPr lang="es-ES" dirty="0"/>
              <a:t> file!)</a:t>
            </a:r>
          </a:p>
          <a:p>
            <a:pPr lvl="1"/>
            <a:r>
              <a:rPr lang="es-ES" dirty="0" err="1"/>
              <a:t>Downside</a:t>
            </a:r>
            <a:r>
              <a:rPr lang="es-ES" dirty="0"/>
              <a:t>: </a:t>
            </a:r>
            <a:r>
              <a:rPr lang="es-ES" dirty="0" err="1"/>
              <a:t>Some</a:t>
            </a:r>
            <a:r>
              <a:rPr lang="es-ES" dirty="0"/>
              <a:t> extra </a:t>
            </a:r>
            <a:r>
              <a:rPr lang="es-ES" dirty="0" err="1"/>
              <a:t>overhead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code</a:t>
            </a:r>
            <a:endParaRPr lang="es-ES" dirty="0"/>
          </a:p>
          <a:p>
            <a:r>
              <a:rPr lang="es-ES" dirty="0" err="1"/>
              <a:t>Primitive</a:t>
            </a:r>
            <a:r>
              <a:rPr lang="es-ES" dirty="0"/>
              <a:t> to </a:t>
            </a:r>
            <a:r>
              <a:rPr lang="es-ES" dirty="0" err="1"/>
              <a:t>draw</a:t>
            </a:r>
            <a:r>
              <a:rPr lang="es-ES" dirty="0"/>
              <a:t> </a:t>
            </a:r>
            <a:r>
              <a:rPr lang="es-ES" dirty="0" err="1"/>
              <a:t>segments</a:t>
            </a:r>
            <a:r>
              <a:rPr lang="es-ES" dirty="0"/>
              <a:t>, </a:t>
            </a:r>
            <a:r>
              <a:rPr lang="es-ES" dirty="0" err="1"/>
              <a:t>quadrilaterals</a:t>
            </a:r>
            <a:r>
              <a:rPr lang="es-ES" dirty="0"/>
              <a:t>…</a:t>
            </a:r>
          </a:p>
          <a:p>
            <a:r>
              <a:rPr lang="es-ES" dirty="0" err="1"/>
              <a:t>Also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more </a:t>
            </a:r>
            <a:r>
              <a:rPr lang="es-ES" dirty="0" err="1"/>
              <a:t>complex</a:t>
            </a:r>
            <a:r>
              <a:rPr lang="es-ES" dirty="0"/>
              <a:t> </a:t>
            </a:r>
            <a:r>
              <a:rPr lang="es-ES" dirty="0" err="1"/>
              <a:t>things</a:t>
            </a:r>
            <a:r>
              <a:rPr lang="es-ES" dirty="0"/>
              <a:t>, </a:t>
            </a:r>
            <a:r>
              <a:rPr lang="es-ES" dirty="0" err="1"/>
              <a:t>like</a:t>
            </a:r>
            <a:r>
              <a:rPr lang="es-ES" dirty="0"/>
              <a:t> </a:t>
            </a:r>
            <a:r>
              <a:rPr lang="es-ES" dirty="0" err="1"/>
              <a:t>parametric</a:t>
            </a:r>
            <a:r>
              <a:rPr lang="es-ES" dirty="0"/>
              <a:t> </a:t>
            </a:r>
            <a:r>
              <a:rPr lang="es-ES" dirty="0" err="1"/>
              <a:t>surfaces</a:t>
            </a:r>
            <a:endParaRPr lang="es-ES" dirty="0"/>
          </a:p>
        </p:txBody>
      </p:sp>
      <p:pic>
        <p:nvPicPr>
          <p:cNvPr id="4" name="Picture 2" descr="Image result for javascript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6" y="4346576"/>
            <a:ext cx="2511425" cy="25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Image result for three.js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824" y="3756819"/>
            <a:ext cx="279538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/>
          <p:cNvSpPr/>
          <p:nvPr/>
        </p:nvSpPr>
        <p:spPr>
          <a:xfrm>
            <a:off x="3107872" y="5259387"/>
            <a:ext cx="355373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 three.js</a:t>
            </a:r>
          </a:p>
        </p:txBody>
      </p:sp>
    </p:spTree>
    <p:extLst>
      <p:ext uri="{BB962C8B-B14F-4D97-AF65-F5344CB8AC3E}">
        <p14:creationId xmlns:p14="http://schemas.microsoft.com/office/powerpoint/2010/main" val="12724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Doing math in JS (math.js)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Supports mathematical expressions, symbolic calculus, linear algebra, ….</a:t>
            </a:r>
          </a:p>
          <a:p>
            <a:r>
              <a:rPr lang="en-US" dirty="0"/>
              <a:t>Easy to include (one file only!)</a:t>
            </a:r>
          </a:p>
        </p:txBody>
      </p:sp>
      <p:pic>
        <p:nvPicPr>
          <p:cNvPr id="2050" name="Picture 2" descr="math.j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475" y="5591175"/>
            <a:ext cx="31432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/>
          <p:cNvSpPr txBox="1"/>
          <p:nvPr/>
        </p:nvSpPr>
        <p:spPr>
          <a:xfrm>
            <a:off x="2373314" y="3127355"/>
            <a:ext cx="7896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A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&lt;!DOCTYPE HTML&gt;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&lt;script </a:t>
            </a:r>
            <a:r>
              <a:rPr lang="en-US" altLang="en-US" dirty="0" err="1">
                <a:solidFill>
                  <a:srgbClr val="FFA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US" altLang="en-US" dirty="0">
                <a:solidFill>
                  <a:srgbClr val="FFA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"math.js"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FFA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type=</a:t>
            </a:r>
            <a:r>
              <a:rPr lang="en-US" alt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"text/</a:t>
            </a:r>
            <a:r>
              <a:rPr lang="en-US" altLang="en-US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javascript</a:t>
            </a:r>
            <a:r>
              <a:rPr lang="en-US" alt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&gt;&lt;/script&gt;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 </a:t>
            </a:r>
            <a:r>
              <a:rPr lang="en-US" altLang="en-US" dirty="0">
                <a:solidFill>
                  <a:srgbClr val="FFA5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type=</a:t>
            </a:r>
            <a:r>
              <a:rPr lang="en-US" alt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"text/</a:t>
            </a:r>
            <a:r>
              <a:rPr lang="en-US" altLang="en-US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javascript</a:t>
            </a:r>
            <a:r>
              <a:rPr lang="en-US" altLang="en-US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use the math.js </a:t>
            </a:r>
            <a:r>
              <a:rPr lang="en-US" altLang="en-US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libary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en-US" dirty="0" err="1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math.inv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([[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[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]])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&lt;/script&gt;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  <a:r>
              <a:rPr lang="en-US" altLang="en-US" dirty="0">
                <a:solidFill>
                  <a:srgbClr val="36363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2B7CE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r>
              <a:rPr lang="en-US" alt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en-US" sz="4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6830902" y="4479132"/>
            <a:ext cx="355373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See </a:t>
            </a:r>
            <a:r>
              <a:rPr lang="en-US" sz="2400" dirty="0">
                <a:hlinkClick r:id="rId3"/>
              </a:rPr>
              <a:t>mathnotepad.com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7222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in your browser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browsers have complete JS debugging tools</a:t>
            </a:r>
          </a:p>
          <a:p>
            <a:pPr lvl="1"/>
            <a:r>
              <a:rPr lang="en-US" dirty="0"/>
              <a:t>Console</a:t>
            </a:r>
          </a:p>
          <a:p>
            <a:pPr lvl="1"/>
            <a:r>
              <a:rPr lang="en-US" dirty="0"/>
              <a:t>Logging to console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console.log("Hello world!");</a:t>
            </a:r>
          </a:p>
          <a:p>
            <a:pPr lvl="1"/>
            <a:r>
              <a:rPr lang="en-US" dirty="0"/>
              <a:t>Breakpoints (of many sorts)</a:t>
            </a:r>
          </a:p>
          <a:p>
            <a:pPr lvl="1"/>
            <a:r>
              <a:rPr lang="en-US" dirty="0"/>
              <a:t>Step by step execution</a:t>
            </a:r>
          </a:p>
          <a:p>
            <a:pPr lvl="1"/>
            <a:r>
              <a:rPr lang="en-US" dirty="0"/>
              <a:t>Variable watches</a:t>
            </a:r>
          </a:p>
          <a:p>
            <a:r>
              <a:rPr lang="en-US" dirty="0"/>
              <a:t>Try pressing F12 in Chrome!</a:t>
            </a:r>
          </a:p>
          <a:p>
            <a:r>
              <a:rPr lang="en-US" dirty="0"/>
              <a:t>Remember: JS execution is silent </a:t>
            </a:r>
          </a:p>
          <a:p>
            <a:pPr lvl="1"/>
            <a:r>
              <a:rPr lang="en-US" b="1" dirty="0"/>
              <a:t>Check console to see errors!</a:t>
            </a:r>
          </a:p>
        </p:txBody>
      </p:sp>
      <p:pic>
        <p:nvPicPr>
          <p:cNvPr id="4" name="Picture 2" descr="Image result for javascript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576" y="4346576"/>
            <a:ext cx="2511425" cy="251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f12 k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097" y="1604870"/>
            <a:ext cx="942507" cy="94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48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GEOC: lab assignments</a:t>
            </a:r>
            <a:endParaRPr lang="en-US" sz="480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15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assignments</a:t>
            </a:r>
            <a:br>
              <a:rPr lang="en-US" dirty="0"/>
            </a:br>
            <a:r>
              <a:rPr lang="en-US" sz="2000" dirty="0">
                <a:solidFill>
                  <a:srgbClr val="FF0000"/>
                </a:solidFill>
              </a:rPr>
              <a:t>(delivery dates for 2026/27 are </a:t>
            </a:r>
            <a:r>
              <a:rPr lang="en-US" sz="2000" u="sng" dirty="0">
                <a:solidFill>
                  <a:srgbClr val="FF0000"/>
                </a:solidFill>
              </a:rPr>
              <a:t>preliminary</a:t>
            </a:r>
            <a:r>
              <a:rPr lang="en-US" sz="2000" dirty="0">
                <a:solidFill>
                  <a:srgbClr val="FF0000"/>
                </a:solidFill>
              </a:rPr>
              <a:t>)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2152650" y="1825625"/>
            <a:ext cx="7886700" cy="4384675"/>
          </a:xfrm>
        </p:spPr>
        <p:txBody>
          <a:bodyPr>
            <a:normAutofit/>
          </a:bodyPr>
          <a:lstStyle/>
          <a:p>
            <a:r>
              <a:rPr lang="en-US" dirty="0"/>
              <a:t>L1: segment intersection test</a:t>
            </a:r>
          </a:p>
          <a:p>
            <a:pPr lvl="1"/>
            <a:r>
              <a:rPr lang="en-US" sz="2000" dirty="0"/>
              <a:t>Delivery and presentation: </a:t>
            </a:r>
            <a:r>
              <a:rPr lang="en-US" sz="2000" dirty="0">
                <a:solidFill>
                  <a:srgbClr val="FF0000"/>
                </a:solidFill>
              </a:rPr>
              <a:t>October 2</a:t>
            </a:r>
          </a:p>
          <a:p>
            <a:r>
              <a:rPr lang="en-US" dirty="0"/>
              <a:t>L2: point-in-triangle test</a:t>
            </a:r>
          </a:p>
          <a:p>
            <a:pPr lvl="1"/>
            <a:r>
              <a:rPr lang="en-US" sz="2000" dirty="0"/>
              <a:t>Delivery and presentation : </a:t>
            </a:r>
            <a:r>
              <a:rPr lang="en-US" sz="2000" dirty="0">
                <a:solidFill>
                  <a:srgbClr val="FF0000"/>
                </a:solidFill>
              </a:rPr>
              <a:t>October 16</a:t>
            </a:r>
          </a:p>
          <a:p>
            <a:r>
              <a:rPr lang="en-US" dirty="0"/>
              <a:t>L3: point-in-circle test</a:t>
            </a:r>
          </a:p>
          <a:p>
            <a:pPr lvl="1"/>
            <a:r>
              <a:rPr lang="en-US" sz="2000" dirty="0"/>
              <a:t>Delivery and presentation : </a:t>
            </a:r>
            <a:r>
              <a:rPr lang="en-US" sz="2000" dirty="0">
                <a:solidFill>
                  <a:srgbClr val="FF0000"/>
                </a:solidFill>
              </a:rPr>
              <a:t>October 16</a:t>
            </a:r>
          </a:p>
          <a:p>
            <a:r>
              <a:rPr lang="en-US" dirty="0"/>
              <a:t>L4: incremental triangulation</a:t>
            </a:r>
          </a:p>
          <a:p>
            <a:pPr lvl="1"/>
            <a:r>
              <a:rPr lang="en-US" sz="2000" dirty="0"/>
              <a:t>Delivery and presentation : </a:t>
            </a:r>
            <a:r>
              <a:rPr lang="en-US" sz="2000" dirty="0">
                <a:solidFill>
                  <a:srgbClr val="FF0000"/>
                </a:solidFill>
              </a:rPr>
              <a:t>November 13</a:t>
            </a:r>
          </a:p>
          <a:p>
            <a:r>
              <a:rPr lang="en-US" dirty="0"/>
              <a:t>L5: Delaunay triangulation</a:t>
            </a:r>
          </a:p>
          <a:p>
            <a:pPr lvl="1"/>
            <a:r>
              <a:rPr lang="en-US" sz="2000" dirty="0"/>
              <a:t>Delivery and presentation : </a:t>
            </a:r>
            <a:r>
              <a:rPr lang="en-US" sz="2000">
                <a:solidFill>
                  <a:srgbClr val="FF0000"/>
                </a:solidFill>
              </a:rPr>
              <a:t>December 18</a:t>
            </a:r>
            <a:endParaRPr lang="en-US" sz="2000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6" name="Rectángulo 5"/>
          <p:cNvSpPr/>
          <p:nvPr/>
        </p:nvSpPr>
        <p:spPr>
          <a:xfrm>
            <a:off x="7620001" y="2397125"/>
            <a:ext cx="2771774" cy="38131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IMPORTANT!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Solutions must be:</a:t>
            </a:r>
          </a:p>
          <a:p>
            <a:pPr marL="342900" indent="-342900">
              <a:buAutoNum type="arabicParenR"/>
            </a:pPr>
            <a:r>
              <a:rPr lang="en-US" sz="2400" b="1" dirty="0"/>
              <a:t>Uploaded</a:t>
            </a:r>
            <a:r>
              <a:rPr lang="en-US" sz="2400" dirty="0"/>
              <a:t> to the </a:t>
            </a:r>
            <a:r>
              <a:rPr lang="en-US" sz="2400" dirty="0" err="1"/>
              <a:t>Racó</a:t>
            </a:r>
            <a:r>
              <a:rPr lang="en-US" sz="2400" dirty="0"/>
              <a:t> by the deadline</a:t>
            </a:r>
          </a:p>
          <a:p>
            <a:pPr marL="342900" indent="-342900">
              <a:buAutoNum type="arabicParenR"/>
            </a:pPr>
            <a:r>
              <a:rPr lang="en-US" sz="2400" b="1" dirty="0"/>
              <a:t>Explained</a:t>
            </a:r>
            <a:r>
              <a:rPr lang="en-US" sz="2400" dirty="0"/>
              <a:t> to the instructor in class</a:t>
            </a:r>
          </a:p>
        </p:txBody>
      </p:sp>
    </p:spTree>
    <p:extLst>
      <p:ext uri="{BB962C8B-B14F-4D97-AF65-F5344CB8AC3E}">
        <p14:creationId xmlns:p14="http://schemas.microsoft.com/office/powerpoint/2010/main" val="366603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GEOC: Labs 1-3</a:t>
            </a:r>
            <a:endParaRPr lang="en-US" sz="480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12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636</Words>
  <Application>Microsoft Office PowerPoint</Application>
  <PresentationFormat>Widescreen</PresentationFormat>
  <Paragraphs>100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Tema de Office</vt:lpstr>
      <vt:lpstr>Computational Geometry</vt:lpstr>
      <vt:lpstr>What software to use?</vt:lpstr>
      <vt:lpstr>JavaScript</vt:lpstr>
      <vt:lpstr>JavaScript (JS)</vt:lpstr>
      <vt:lpstr>Some advantages of JS</vt:lpstr>
      <vt:lpstr>Drawing stuff in JS</vt:lpstr>
      <vt:lpstr>Drawing stuff in JS… in 3D</vt:lpstr>
      <vt:lpstr>Doing math in JS (math.js)</vt:lpstr>
      <vt:lpstr>Debugging in your browser</vt:lpstr>
      <vt:lpstr>GEOC: lab assignments</vt:lpstr>
      <vt:lpstr>Five assignments (delivery dates for 2026/27 are preliminary)</vt:lpstr>
      <vt:lpstr>GEOC: Labs 1-3</vt:lpstr>
    </vt:vector>
  </TitlesOfParts>
  <Company>UPC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GEOC - Computatial Geometry</dc:title>
  <dc:creator>Rodrigo Silveira</dc:creator>
  <cp:lastModifiedBy>rodrigo.silveira</cp:lastModifiedBy>
  <cp:revision>31</cp:revision>
  <dcterms:created xsi:type="dcterms:W3CDTF">2018-09-12T15:29:07Z</dcterms:created>
  <dcterms:modified xsi:type="dcterms:W3CDTF">2026-09-18T08:07:12Z</dcterms:modified>
</cp:coreProperties>
</file>